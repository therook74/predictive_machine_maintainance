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20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itya kumar bharti" userId="aa61c19441868868" providerId="LiveId" clId="{A32C4EA5-A557-4DD6-8C01-16C0385C08A6}"/>
    <pc:docChg chg="undo redo custSel modSld">
      <pc:chgData name="aditya kumar bharti" userId="aa61c19441868868" providerId="LiveId" clId="{A32C4EA5-A557-4DD6-8C01-16C0385C08A6}" dt="2025-11-01T04:19:08.891" v="5368" actId="20577"/>
      <pc:docMkLst>
        <pc:docMk/>
      </pc:docMkLst>
      <pc:sldChg chg="modSp mod">
        <pc:chgData name="aditya kumar bharti" userId="aa61c19441868868" providerId="LiveId" clId="{A32C4EA5-A557-4DD6-8C01-16C0385C08A6}" dt="2025-11-01T03:43:56.072" v="80" actId="20577"/>
        <pc:sldMkLst>
          <pc:docMk/>
          <pc:sldMk cId="3148598230" sldId="256"/>
        </pc:sldMkLst>
        <pc:spChg chg="mod">
          <ac:chgData name="aditya kumar bharti" userId="aa61c19441868868" providerId="LiveId" clId="{A32C4EA5-A557-4DD6-8C01-16C0385C08A6}" dt="2025-11-01T03:43:37.829" v="45" actId="20577"/>
          <ac:spMkLst>
            <pc:docMk/>
            <pc:sldMk cId="3148598230" sldId="256"/>
            <ac:spMk id="2" creationId="{D338D6CB-3CB0-4A31-8937-79CEA75B3D16}"/>
          </ac:spMkLst>
        </pc:spChg>
        <pc:spChg chg="mod">
          <ac:chgData name="aditya kumar bharti" userId="aa61c19441868868" providerId="LiveId" clId="{A32C4EA5-A557-4DD6-8C01-16C0385C08A6}" dt="2025-11-01T03:43:56.072" v="80" actId="20577"/>
          <ac:spMkLst>
            <pc:docMk/>
            <pc:sldMk cId="3148598230" sldId="256"/>
            <ac:spMk id="3" creationId="{41D40B51-618E-4FF2-9D61-C672AD3FF7EE}"/>
          </ac:spMkLst>
        </pc:spChg>
      </pc:sldChg>
      <pc:sldChg chg="modSp mod">
        <pc:chgData name="aditya kumar bharti" userId="aa61c19441868868" providerId="LiveId" clId="{A32C4EA5-A557-4DD6-8C01-16C0385C08A6}" dt="2025-11-01T03:50:02.956" v="735" actId="20577"/>
        <pc:sldMkLst>
          <pc:docMk/>
          <pc:sldMk cId="1118422830" sldId="257"/>
        </pc:sldMkLst>
        <pc:spChg chg="mod">
          <ac:chgData name="aditya kumar bharti" userId="aa61c19441868868" providerId="LiveId" clId="{A32C4EA5-A557-4DD6-8C01-16C0385C08A6}" dt="2025-11-01T03:50:02.956" v="735" actId="20577"/>
          <ac:spMkLst>
            <pc:docMk/>
            <pc:sldMk cId="1118422830" sldId="257"/>
            <ac:spMk id="3" creationId="{AD544226-0305-401F-91E6-6EE85D7D2B05}"/>
          </ac:spMkLst>
        </pc:spChg>
      </pc:sldChg>
      <pc:sldChg chg="modSp mod">
        <pc:chgData name="aditya kumar bharti" userId="aa61c19441868868" providerId="LiveId" clId="{A32C4EA5-A557-4DD6-8C01-16C0385C08A6}" dt="2025-11-01T03:54:05.500" v="1437" actId="20577"/>
        <pc:sldMkLst>
          <pc:docMk/>
          <pc:sldMk cId="2611703429" sldId="258"/>
        </pc:sldMkLst>
        <pc:spChg chg="mod">
          <ac:chgData name="aditya kumar bharti" userId="aa61c19441868868" providerId="LiveId" clId="{A32C4EA5-A557-4DD6-8C01-16C0385C08A6}" dt="2025-11-01T03:50:26.316" v="793" actId="20577"/>
          <ac:spMkLst>
            <pc:docMk/>
            <pc:sldMk cId="2611703429" sldId="258"/>
            <ac:spMk id="2" creationId="{654D152C-3909-4D19-B7B5-D92172FC587F}"/>
          </ac:spMkLst>
        </pc:spChg>
        <pc:spChg chg="mod">
          <ac:chgData name="aditya kumar bharti" userId="aa61c19441868868" providerId="LiveId" clId="{A32C4EA5-A557-4DD6-8C01-16C0385C08A6}" dt="2025-11-01T03:54:05.500" v="1437" actId="20577"/>
          <ac:spMkLst>
            <pc:docMk/>
            <pc:sldMk cId="2611703429" sldId="258"/>
            <ac:spMk id="3" creationId="{F7273781-789E-49F7-AD3C-BE0D2066356F}"/>
          </ac:spMkLst>
        </pc:spChg>
      </pc:sldChg>
      <pc:sldChg chg="modSp mod">
        <pc:chgData name="aditya kumar bharti" userId="aa61c19441868868" providerId="LiveId" clId="{A32C4EA5-A557-4DD6-8C01-16C0385C08A6}" dt="2025-11-01T03:57:37.912" v="1809" actId="14100"/>
        <pc:sldMkLst>
          <pc:docMk/>
          <pc:sldMk cId="4037951595" sldId="259"/>
        </pc:sldMkLst>
        <pc:spChg chg="mod">
          <ac:chgData name="aditya kumar bharti" userId="aa61c19441868868" providerId="LiveId" clId="{A32C4EA5-A557-4DD6-8C01-16C0385C08A6}" dt="2025-11-01T03:35:13.421" v="43" actId="20577"/>
          <ac:spMkLst>
            <pc:docMk/>
            <pc:sldMk cId="4037951595" sldId="259"/>
            <ac:spMk id="2" creationId="{64DC7361-9105-460C-922D-4A97F84F479B}"/>
          </ac:spMkLst>
        </pc:spChg>
        <pc:spChg chg="mod">
          <ac:chgData name="aditya kumar bharti" userId="aa61c19441868868" providerId="LiveId" clId="{A32C4EA5-A557-4DD6-8C01-16C0385C08A6}" dt="2025-11-01T03:57:37.912" v="1809" actId="14100"/>
          <ac:spMkLst>
            <pc:docMk/>
            <pc:sldMk cId="4037951595" sldId="259"/>
            <ac:spMk id="3" creationId="{5FDEA82C-6C00-46C3-8384-C8839A434E17}"/>
          </ac:spMkLst>
        </pc:spChg>
      </pc:sldChg>
      <pc:sldChg chg="modSp mod">
        <pc:chgData name="aditya kumar bharti" userId="aa61c19441868868" providerId="LiveId" clId="{A32C4EA5-A557-4DD6-8C01-16C0385C08A6}" dt="2025-11-01T04:00:28.092" v="2268" actId="27636"/>
        <pc:sldMkLst>
          <pc:docMk/>
          <pc:sldMk cId="2436956241" sldId="260"/>
        </pc:sldMkLst>
        <pc:spChg chg="mod">
          <ac:chgData name="aditya kumar bharti" userId="aa61c19441868868" providerId="LiveId" clId="{A32C4EA5-A557-4DD6-8C01-16C0385C08A6}" dt="2025-11-01T03:57:50.740" v="1828" actId="20577"/>
          <ac:spMkLst>
            <pc:docMk/>
            <pc:sldMk cId="2436956241" sldId="260"/>
            <ac:spMk id="2" creationId="{057FCBE8-4625-4EF6-AAB6-914B017C386B}"/>
          </ac:spMkLst>
        </pc:spChg>
        <pc:spChg chg="mod">
          <ac:chgData name="aditya kumar bharti" userId="aa61c19441868868" providerId="LiveId" clId="{A32C4EA5-A557-4DD6-8C01-16C0385C08A6}" dt="2025-11-01T04:00:28.092" v="2268" actId="27636"/>
          <ac:spMkLst>
            <pc:docMk/>
            <pc:sldMk cId="2436956241" sldId="260"/>
            <ac:spMk id="3" creationId="{E8FFD52C-17C9-4412-8C51-D6566F19DE71}"/>
          </ac:spMkLst>
        </pc:spChg>
      </pc:sldChg>
      <pc:sldChg chg="modSp mod">
        <pc:chgData name="aditya kumar bharti" userId="aa61c19441868868" providerId="LiveId" clId="{A32C4EA5-A557-4DD6-8C01-16C0385C08A6}" dt="2025-11-01T04:04:43.055" v="2852" actId="20577"/>
        <pc:sldMkLst>
          <pc:docMk/>
          <pc:sldMk cId="2982269263" sldId="261"/>
        </pc:sldMkLst>
        <pc:spChg chg="mod">
          <ac:chgData name="aditya kumar bharti" userId="aa61c19441868868" providerId="LiveId" clId="{A32C4EA5-A557-4DD6-8C01-16C0385C08A6}" dt="2025-11-01T04:04:43.055" v="2852" actId="20577"/>
          <ac:spMkLst>
            <pc:docMk/>
            <pc:sldMk cId="2982269263" sldId="261"/>
            <ac:spMk id="3" creationId="{78BDB68E-7742-4E55-B6F6-088FC3A29726}"/>
          </ac:spMkLst>
        </pc:spChg>
      </pc:sldChg>
      <pc:sldChg chg="modSp mod">
        <pc:chgData name="aditya kumar bharti" userId="aa61c19441868868" providerId="LiveId" clId="{A32C4EA5-A557-4DD6-8C01-16C0385C08A6}" dt="2025-11-01T04:06:12.918" v="3083" actId="14100"/>
        <pc:sldMkLst>
          <pc:docMk/>
          <pc:sldMk cId="1510468001" sldId="262"/>
        </pc:sldMkLst>
        <pc:spChg chg="mod">
          <ac:chgData name="aditya kumar bharti" userId="aa61c19441868868" providerId="LiveId" clId="{A32C4EA5-A557-4DD6-8C01-16C0385C08A6}" dt="2025-11-01T04:04:58.382" v="2870" actId="20577"/>
          <ac:spMkLst>
            <pc:docMk/>
            <pc:sldMk cId="1510468001" sldId="262"/>
            <ac:spMk id="2" creationId="{2108645B-188D-497F-A1DF-126A94654CD3}"/>
          </ac:spMkLst>
        </pc:spChg>
        <pc:spChg chg="mod">
          <ac:chgData name="aditya kumar bharti" userId="aa61c19441868868" providerId="LiveId" clId="{A32C4EA5-A557-4DD6-8C01-16C0385C08A6}" dt="2025-11-01T04:06:12.918" v="3083" actId="14100"/>
          <ac:spMkLst>
            <pc:docMk/>
            <pc:sldMk cId="1510468001" sldId="262"/>
            <ac:spMk id="3" creationId="{E93E02E1-5133-4494-BAB2-E4AB3F3C7C96}"/>
          </ac:spMkLst>
        </pc:spChg>
      </pc:sldChg>
      <pc:sldChg chg="modSp mod">
        <pc:chgData name="aditya kumar bharti" userId="aa61c19441868868" providerId="LiveId" clId="{A32C4EA5-A557-4DD6-8C01-16C0385C08A6}" dt="2025-11-01T04:08:33.162" v="3531" actId="27636"/>
        <pc:sldMkLst>
          <pc:docMk/>
          <pc:sldMk cId="3710901547" sldId="263"/>
        </pc:sldMkLst>
        <pc:spChg chg="mod">
          <ac:chgData name="aditya kumar bharti" userId="aa61c19441868868" providerId="LiveId" clId="{A32C4EA5-A557-4DD6-8C01-16C0385C08A6}" dt="2025-11-01T04:06:21.759" v="3084" actId="20577"/>
          <ac:spMkLst>
            <pc:docMk/>
            <pc:sldMk cId="3710901547" sldId="263"/>
            <ac:spMk id="2" creationId="{8FDD1D60-7F76-4942-B903-FE9F33756237}"/>
          </ac:spMkLst>
        </pc:spChg>
        <pc:spChg chg="mod">
          <ac:chgData name="aditya kumar bharti" userId="aa61c19441868868" providerId="LiveId" clId="{A32C4EA5-A557-4DD6-8C01-16C0385C08A6}" dt="2025-11-01T04:08:33.162" v="3531" actId="27636"/>
          <ac:spMkLst>
            <pc:docMk/>
            <pc:sldMk cId="3710901547" sldId="263"/>
            <ac:spMk id="3" creationId="{57C8DDF2-0196-46F7-BD03-8871361B9DEF}"/>
          </ac:spMkLst>
        </pc:spChg>
      </pc:sldChg>
      <pc:sldChg chg="modSp mod">
        <pc:chgData name="aditya kumar bharti" userId="aa61c19441868868" providerId="LiveId" clId="{A32C4EA5-A557-4DD6-8C01-16C0385C08A6}" dt="2025-11-01T04:10:45.565" v="3889" actId="14100"/>
        <pc:sldMkLst>
          <pc:docMk/>
          <pc:sldMk cId="2745846719" sldId="264"/>
        </pc:sldMkLst>
        <pc:spChg chg="mod">
          <ac:chgData name="aditya kumar bharti" userId="aa61c19441868868" providerId="LiveId" clId="{A32C4EA5-A557-4DD6-8C01-16C0385C08A6}" dt="2025-11-01T04:08:56.686" v="3607" actId="20577"/>
          <ac:spMkLst>
            <pc:docMk/>
            <pc:sldMk cId="2745846719" sldId="264"/>
            <ac:spMk id="2" creationId="{613B87CE-6033-4168-809F-007D4314B054}"/>
          </ac:spMkLst>
        </pc:spChg>
        <pc:spChg chg="mod">
          <ac:chgData name="aditya kumar bharti" userId="aa61c19441868868" providerId="LiveId" clId="{A32C4EA5-A557-4DD6-8C01-16C0385C08A6}" dt="2025-11-01T04:10:45.565" v="3889" actId="14100"/>
          <ac:spMkLst>
            <pc:docMk/>
            <pc:sldMk cId="2745846719" sldId="264"/>
            <ac:spMk id="3" creationId="{2DDC9351-68A4-4E9F-996D-06953966030D}"/>
          </ac:spMkLst>
        </pc:spChg>
      </pc:sldChg>
      <pc:sldChg chg="modSp mod">
        <pc:chgData name="aditya kumar bharti" userId="aa61c19441868868" providerId="LiveId" clId="{A32C4EA5-A557-4DD6-8C01-16C0385C08A6}" dt="2025-11-01T04:13:38.527" v="4292" actId="14100"/>
        <pc:sldMkLst>
          <pc:docMk/>
          <pc:sldMk cId="77788798" sldId="265"/>
        </pc:sldMkLst>
        <pc:spChg chg="mod">
          <ac:chgData name="aditya kumar bharti" userId="aa61c19441868868" providerId="LiveId" clId="{A32C4EA5-A557-4DD6-8C01-16C0385C08A6}" dt="2025-11-01T04:13:38.527" v="4292" actId="14100"/>
          <ac:spMkLst>
            <pc:docMk/>
            <pc:sldMk cId="77788798" sldId="265"/>
            <ac:spMk id="3" creationId="{86124C20-7CAC-4583-827C-59ADB8DB4ED2}"/>
          </ac:spMkLst>
        </pc:spChg>
      </pc:sldChg>
      <pc:sldChg chg="modSp mod">
        <pc:chgData name="aditya kumar bharti" userId="aa61c19441868868" providerId="LiveId" clId="{A32C4EA5-A557-4DD6-8C01-16C0385C08A6}" dt="2025-11-01T04:19:08.891" v="5368" actId="20577"/>
        <pc:sldMkLst>
          <pc:docMk/>
          <pc:sldMk cId="2872442592" sldId="266"/>
        </pc:sldMkLst>
        <pc:spChg chg="mod">
          <ac:chgData name="aditya kumar bharti" userId="aa61c19441868868" providerId="LiveId" clId="{A32C4EA5-A557-4DD6-8C01-16C0385C08A6}" dt="2025-11-01T04:19:08.891" v="5368" actId="20577"/>
          <ac:spMkLst>
            <pc:docMk/>
            <pc:sldMk cId="2872442592" sldId="266"/>
            <ac:spMk id="3" creationId="{94861DFF-0E19-44B8-BF65-8047001DB21D}"/>
          </ac:spMkLst>
        </pc:spChg>
      </pc:sldChg>
      <pc:sldChg chg="modSp mod">
        <pc:chgData name="aditya kumar bharti" userId="aa61c19441868868" providerId="LiveId" clId="{A32C4EA5-A557-4DD6-8C01-16C0385C08A6}" dt="2025-11-01T03:54:59.809" v="1447" actId="20577"/>
        <pc:sldMkLst>
          <pc:docMk/>
          <pc:sldMk cId="2372618332" sldId="268"/>
        </pc:sldMkLst>
        <pc:spChg chg="mod">
          <ac:chgData name="aditya kumar bharti" userId="aa61c19441868868" providerId="LiveId" clId="{A32C4EA5-A557-4DD6-8C01-16C0385C08A6}" dt="2025-11-01T03:34:33.777" v="30" actId="20577"/>
          <ac:spMkLst>
            <pc:docMk/>
            <pc:sldMk cId="2372618332" sldId="268"/>
            <ac:spMk id="2" creationId="{464B83E2-901D-42E5-9D38-B79FF5738F38}"/>
          </ac:spMkLst>
        </pc:spChg>
        <pc:graphicFrameChg chg="modGraphic">
          <ac:chgData name="aditya kumar bharti" userId="aa61c19441868868" providerId="LiveId" clId="{A32C4EA5-A557-4DD6-8C01-16C0385C08A6}" dt="2025-11-01T03:54:59.809" v="1447" actId="20577"/>
          <ac:graphicFrameMkLst>
            <pc:docMk/>
            <pc:sldMk cId="2372618332" sldId="268"/>
            <ac:graphicFrameMk id="4" creationId="{C89D1C80-F9D0-4695-A75D-A75AE48C2239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dirty="0"/>
              <a:t>11/1/2025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dirty="0"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8" r:id="rId9"/>
    <p:sldLayoutId id="2147483667" r:id="rId10"/>
    <p:sldLayoutId id="2147483661" r:id="rId11"/>
    <p:sldLayoutId id="2147483664" r:id="rId12"/>
    <p:sldLayoutId id="2147483662" r:id="rId13"/>
    <p:sldLayoutId id="2147483669" r:id="rId14"/>
    <p:sldLayoutId id="2147483670" r:id="rId15"/>
    <p:sldLayoutId id="2147483658" r:id="rId16"/>
    <p:sldLayoutId id="2147483659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38D6CB-3CB0-4A31-8937-79CEA75B3D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dirty="0"/>
              <a:t>Predictive Maintenance: An End-to-End IoT System for Real-Time Anomaly Detection</a:t>
            </a:r>
            <a:endParaRPr lang="en-IN" sz="48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1D40B51-618E-4FF2-9D61-C672AD3FF7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IN" dirty="0"/>
              <a:t>Aditya Kumar Bharti  -  22CS30007</a:t>
            </a:r>
          </a:p>
          <a:p>
            <a:r>
              <a:rPr lang="en-IN" dirty="0"/>
              <a:t>Nakul </a:t>
            </a:r>
            <a:r>
              <a:rPr lang="en-IN" dirty="0" err="1"/>
              <a:t>sharma</a:t>
            </a:r>
            <a:r>
              <a:rPr lang="en-IN" dirty="0"/>
              <a:t>  - 22CS30068</a:t>
            </a:r>
          </a:p>
        </p:txBody>
      </p:sp>
    </p:spTree>
    <p:extLst>
      <p:ext uri="{BB962C8B-B14F-4D97-AF65-F5344CB8AC3E}">
        <p14:creationId xmlns:p14="http://schemas.microsoft.com/office/powerpoint/2010/main" val="31485982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A7596E-86A5-447A-BBB9-6D1A0A4657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Problem: The High Cost of Failure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544226-0305-401F-91E6-6EE85D7D2B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9"/>
            <a:ext cx="8786646" cy="2021776"/>
          </a:xfrm>
        </p:spPr>
        <p:txBody>
          <a:bodyPr>
            <a:normAutofit/>
          </a:bodyPr>
          <a:lstStyle/>
          <a:p>
            <a:r>
              <a:rPr lang="en-US" dirty="0"/>
              <a:t>Component failures : Failure of a component (Machines) in industries can cause disrupt in the entire production.</a:t>
            </a:r>
          </a:p>
          <a:p>
            <a:r>
              <a:rPr lang="en-US" dirty="0"/>
              <a:t>Cure : Generally , machine failed and then we fix. Here we will be trying to analyze the machine health and avoid and possible failures.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184228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4D152C-3909-4D19-B7B5-D92172FC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Solution : A smart Monitoring System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273781-789E-49F7-AD3C-BE0D206635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We are developing a system that can monitor the health of machine.</a:t>
            </a:r>
          </a:p>
          <a:p>
            <a:r>
              <a:rPr lang="en-US" dirty="0"/>
              <a:t>Baseline : Our Blackbox(Machine Maintainer) will first learn the ideal vibrations and temperatures of the machine.</a:t>
            </a:r>
          </a:p>
          <a:p>
            <a:r>
              <a:rPr lang="en-US" dirty="0"/>
              <a:t>Monitoring : After that our maintainer will keep tracking the conditions of machine and will sent it to the server for analysis.</a:t>
            </a:r>
          </a:p>
          <a:p>
            <a:r>
              <a:rPr lang="en-US" dirty="0"/>
              <a:t>Warning : if server finds any unusual </a:t>
            </a:r>
            <a:r>
              <a:rPr lang="en-US" dirty="0" err="1"/>
              <a:t>behaviour</a:t>
            </a:r>
            <a:r>
              <a:rPr lang="en-US" dirty="0"/>
              <a:t> pattern it will send signals to the maintainer which will be visual and can be taken action of. </a:t>
            </a:r>
          </a:p>
          <a:p>
            <a:r>
              <a:rPr lang="en-US" dirty="0" err="1"/>
              <a:t>Technolies</a:t>
            </a:r>
            <a:r>
              <a:rPr lang="en-US" dirty="0"/>
              <a:t> and </a:t>
            </a:r>
            <a:r>
              <a:rPr lang="en-US" dirty="0" err="1"/>
              <a:t>hardwares</a:t>
            </a:r>
            <a:r>
              <a:rPr lang="en-US" dirty="0"/>
              <a:t> used: ESP32, </a:t>
            </a:r>
            <a:r>
              <a:rPr lang="en-US" dirty="0" err="1"/>
              <a:t>FastAPI</a:t>
            </a:r>
            <a:r>
              <a:rPr lang="en-US" dirty="0"/>
              <a:t> (Python), </a:t>
            </a:r>
            <a:r>
              <a:rPr lang="en-US" dirty="0" err="1"/>
              <a:t>InfluxDB</a:t>
            </a:r>
            <a:r>
              <a:rPr lang="en-US" dirty="0"/>
              <a:t>, </a:t>
            </a:r>
            <a:r>
              <a:rPr lang="en-US" dirty="0" err="1"/>
              <a:t>WebSockets</a:t>
            </a:r>
            <a:r>
              <a:rPr lang="en-US" dirty="0"/>
              <a:t>, Chart.js, Telegram Bot API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117034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4B83E2-901D-42E5-9D38-B79FF5738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89D1C80-F9D0-4695-A75D-A75AE48C223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0195111"/>
              </p:ext>
            </p:extLst>
          </p:nvPr>
        </p:nvGraphicFramePr>
        <p:xfrm>
          <a:off x="1305018" y="1853248"/>
          <a:ext cx="8870103" cy="4195762"/>
        </p:xfrm>
        <a:graphic>
          <a:graphicData uri="http://schemas.openxmlformats.org/drawingml/2006/table">
            <a:tbl>
              <a:tblPr/>
              <a:tblGrid>
                <a:gridCol w="2956701">
                  <a:extLst>
                    <a:ext uri="{9D8B030D-6E8A-4147-A177-3AD203B41FA5}">
                      <a16:colId xmlns:a16="http://schemas.microsoft.com/office/drawing/2014/main" val="658945303"/>
                    </a:ext>
                  </a:extLst>
                </a:gridCol>
                <a:gridCol w="2956701">
                  <a:extLst>
                    <a:ext uri="{9D8B030D-6E8A-4147-A177-3AD203B41FA5}">
                      <a16:colId xmlns:a16="http://schemas.microsoft.com/office/drawing/2014/main" val="1641832713"/>
                    </a:ext>
                  </a:extLst>
                </a:gridCol>
                <a:gridCol w="2956701">
                  <a:extLst>
                    <a:ext uri="{9D8B030D-6E8A-4147-A177-3AD203B41FA5}">
                      <a16:colId xmlns:a16="http://schemas.microsoft.com/office/drawing/2014/main" val="1630854208"/>
                    </a:ext>
                  </a:extLst>
                </a:gridCol>
              </a:tblGrid>
              <a:tr h="489506">
                <a:tc>
                  <a:txBody>
                    <a:bodyPr/>
                    <a:lstStyle/>
                    <a:p>
                      <a:r>
                        <a:rPr lang="en-US" sz="1400" b="1" dirty="0"/>
                        <a:t>1. IoT Device (The Edge)</a:t>
                      </a:r>
                      <a:endParaRPr lang="en-US" sz="1400" dirty="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2. Backend Server (The Brain)</a:t>
                      </a:r>
                      <a:endParaRPr lang="en-US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/>
                        <a:t>3. User Interfaces (The View)</a:t>
                      </a:r>
                      <a:endParaRPr lang="en-US" sz="1400"/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341634"/>
                  </a:ext>
                </a:extLst>
              </a:tr>
              <a:tr h="2377598">
                <a:tc>
                  <a:txBody>
                    <a:bodyPr/>
                    <a:lstStyle/>
                    <a:p>
                      <a:r>
                        <a:rPr lang="en-IN" sz="1400" b="1" dirty="0"/>
                        <a:t>Hardware / Components:</a:t>
                      </a:r>
                    </a:p>
                    <a:p>
                      <a:r>
                        <a:rPr lang="en-IN" sz="1400" dirty="0"/>
                        <a:t>ESP32 Microcontroller</a:t>
                      </a:r>
                    </a:p>
                    <a:p>
                      <a:r>
                        <a:rPr lang="en-IN" sz="1400" dirty="0"/>
                        <a:t>ADXL345 Accelerometer</a:t>
                      </a:r>
                    </a:p>
                    <a:p>
                      <a:r>
                        <a:rPr lang="en-IN" sz="1400" dirty="0"/>
                        <a:t>DHT11 Temp/Humidity Sensor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IN" sz="1400" b="1" dirty="0"/>
                        <a:t>Core Stack:</a:t>
                      </a:r>
                    </a:p>
                    <a:p>
                      <a:r>
                        <a:rPr lang="en-IN" sz="1400" dirty="0" err="1"/>
                        <a:t>FastAPI</a:t>
                      </a:r>
                      <a:r>
                        <a:rPr lang="en-IN" sz="1400" dirty="0"/>
                        <a:t> &amp; </a:t>
                      </a:r>
                      <a:r>
                        <a:rPr lang="en-IN" sz="1400" dirty="0" err="1"/>
                        <a:t>Uvicorn</a:t>
                      </a:r>
                      <a:r>
                        <a:rPr lang="en-IN" sz="1400" dirty="0"/>
                        <a:t> (Python)</a:t>
                      </a:r>
                    </a:p>
                    <a:p>
                      <a:r>
                        <a:rPr lang="en-IN" sz="1400"/>
                        <a:t>WebSocket Management</a:t>
                      </a:r>
                    </a:p>
                    <a:p>
                      <a:r>
                        <a:rPr lang="en-IN" sz="1400"/>
                        <a:t>Real-time </a:t>
                      </a:r>
                      <a:r>
                        <a:rPr lang="en-IN" sz="1400" dirty="0"/>
                        <a:t>Data Analysis (FFT)</a:t>
                      </a:r>
                    </a:p>
                    <a:p>
                      <a:r>
                        <a:rPr lang="en-IN" sz="1400" dirty="0"/>
                        <a:t>Data Persistence (</a:t>
                      </a:r>
                      <a:r>
                        <a:rPr lang="en-IN" sz="1400" dirty="0" err="1"/>
                        <a:t>InfluxDB</a:t>
                      </a:r>
                      <a:r>
                        <a:rPr lang="en-IN" sz="1400" dirty="0"/>
                        <a:t>)</a:t>
                      </a:r>
                    </a:p>
                    <a:p>
                      <a:r>
                        <a:rPr lang="en-IN" sz="1400" dirty="0"/>
                        <a:t>Alerting via Telegram API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Interface Features:</a:t>
                      </a:r>
                    </a:p>
                    <a:p>
                      <a:r>
                        <a:rPr lang="en-US" sz="1400" dirty="0"/>
                        <a:t>Real-time Web Dashboard</a:t>
                      </a:r>
                    </a:p>
                    <a:p>
                      <a:r>
                        <a:rPr lang="en-US" sz="1400" dirty="0"/>
                        <a:t>Live Vibration &amp; FFT Charts</a:t>
                      </a:r>
                    </a:p>
                    <a:p>
                      <a:r>
                        <a:rPr lang="en-US" sz="1400" dirty="0"/>
                        <a:t>Machine Status Indicators</a:t>
                      </a:r>
                    </a:p>
                    <a:p>
                      <a:r>
                        <a:rPr lang="en-US" sz="1400" dirty="0"/>
                        <a:t>Manual Controls (Stop/Restart)</a:t>
                      </a:r>
                    </a:p>
                    <a:p>
                      <a:r>
                        <a:rPr lang="en-US" sz="1400" dirty="0"/>
                        <a:t>Proactive Telegram Alerts</a:t>
                      </a:r>
                    </a:p>
                    <a:p>
                      <a:r>
                        <a:rPr lang="en-US" sz="1400" dirty="0"/>
                        <a:t>Instant Notifications on Status Change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27146"/>
                  </a:ext>
                </a:extLst>
              </a:tr>
              <a:tr h="1328658">
                <a:tc>
                  <a:txBody>
                    <a:bodyPr/>
                    <a:lstStyle/>
                    <a:p>
                      <a:r>
                        <a:rPr lang="en-IN" sz="1400" b="1" dirty="0"/>
                        <a:t>Responsibilities:</a:t>
                      </a:r>
                    </a:p>
                    <a:p>
                      <a:r>
                        <a:rPr lang="en-IN" sz="1400" dirty="0"/>
                        <a:t>Data collection</a:t>
                      </a:r>
                    </a:p>
                    <a:p>
                      <a:r>
                        <a:rPr lang="en-IN" sz="1400" dirty="0"/>
                        <a:t>Baseline Calibration</a:t>
                      </a:r>
                    </a:p>
                    <a:p>
                      <a:r>
                        <a:rPr lang="en-IN" sz="1400" dirty="0"/>
                        <a:t>Secure WebSocket Connection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Responsibilities:</a:t>
                      </a:r>
                    </a:p>
                    <a:p>
                      <a:r>
                        <a:rPr lang="en-US" sz="1400" dirty="0"/>
                        <a:t>Anomaly Detection Logic</a:t>
                      </a:r>
                    </a:p>
                    <a:p>
                      <a:r>
                        <a:rPr lang="en-US" sz="1400" dirty="0"/>
                        <a:t>Real-time Processing &amp; Storage</a:t>
                      </a:r>
                    </a:p>
                    <a:p>
                      <a:r>
                        <a:rPr lang="en-US" sz="1400" dirty="0"/>
                        <a:t>Telegram Alert Management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/>
                        <a:t>Responsibilities:</a:t>
                      </a:r>
                    </a:p>
                    <a:p>
                      <a:r>
                        <a:rPr lang="en-US" sz="1400" dirty="0"/>
                        <a:t>Visualization of Metrics</a:t>
                      </a:r>
                    </a:p>
                    <a:p>
                      <a:r>
                        <a:rPr lang="en-US" sz="1400" dirty="0"/>
                        <a:t>User Control Interface</a:t>
                      </a:r>
                    </a:p>
                    <a:p>
                      <a:r>
                        <a:rPr lang="en-US" sz="1400" dirty="0"/>
                        <a:t>Display Alerts &amp; Logs</a:t>
                      </a:r>
                    </a:p>
                  </a:txBody>
                  <a:tcPr marL="69929" marR="69929" marT="34965" marB="349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207610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72618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C7361-9105-460C-922D-4A97F84F47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Previous work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DEA82C-6C00-46C3-8384-C8839A434E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8946541" cy="2783777"/>
          </a:xfrm>
        </p:spPr>
        <p:txBody>
          <a:bodyPr/>
          <a:lstStyle/>
          <a:p>
            <a:r>
              <a:rPr lang="en-US" dirty="0"/>
              <a:t>So far , we were up to our Simulation . We had modelled our Maintainer.</a:t>
            </a:r>
          </a:p>
          <a:p>
            <a:r>
              <a:rPr lang="en-US" dirty="0"/>
              <a:t>We had created the hardware circuits(excluding temperature sensors + </a:t>
            </a:r>
            <a:r>
              <a:rPr lang="en-US" dirty="0" err="1"/>
              <a:t>Leds</a:t>
            </a:r>
            <a:r>
              <a:rPr lang="en-US" dirty="0"/>
              <a:t>) and verified the flow of data from maintainer to the server.</a:t>
            </a:r>
          </a:p>
          <a:p>
            <a:r>
              <a:rPr lang="en-US" dirty="0"/>
              <a:t>We had performed a naïve FFT(with no fine tuning).So our system was not working so well.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037951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7FCBE8-4625-4EF6-AAB6-914B017C38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IoT Device : Our maintainer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FFD52C-17C9-4412-8C51-D6566F19DE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6691282" cy="4195481"/>
          </a:xfrm>
        </p:spPr>
        <p:txBody>
          <a:bodyPr>
            <a:normAutofit/>
          </a:bodyPr>
          <a:lstStyle/>
          <a:p>
            <a:r>
              <a:rPr lang="en-IN" dirty="0"/>
              <a:t>ESP32 : This is brain of our device. It helps sending the data collected by sensors and perform tasks like lighting the LEDs.</a:t>
            </a:r>
          </a:p>
          <a:p>
            <a:r>
              <a:rPr lang="en-IN" dirty="0"/>
              <a:t>ADXL345 : This is accelerometer , it measures vibration across </a:t>
            </a:r>
            <a:r>
              <a:rPr lang="en-IN" dirty="0" err="1"/>
              <a:t>x,y</a:t>
            </a:r>
            <a:r>
              <a:rPr lang="en-IN" dirty="0"/>
              <a:t> and z-axes.</a:t>
            </a:r>
          </a:p>
          <a:p>
            <a:r>
              <a:rPr lang="en-IN" dirty="0"/>
              <a:t>DHT11 :  This sensed the temperature and humidity.</a:t>
            </a:r>
          </a:p>
          <a:p>
            <a:r>
              <a:rPr lang="en-IN" dirty="0"/>
              <a:t>(</a:t>
            </a:r>
            <a:r>
              <a:rPr lang="en-IN" dirty="0" err="1"/>
              <a:t>sketch.ino</a:t>
            </a:r>
            <a:r>
              <a:rPr lang="en-IN" dirty="0"/>
              <a:t>): Establishes a persistent WebSocket connection to the server and drive the ESP32.</a:t>
            </a:r>
          </a:p>
          <a:p>
            <a:r>
              <a:rPr lang="en-IN" dirty="0"/>
              <a:t>For baseline configuration , we are collecting 3000 samples.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8DF77D2-530E-45FE-8B15-4A5AF3646E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6623" y="1477885"/>
            <a:ext cx="3826460" cy="5101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69562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FDB830-4227-4D4C-BF58-0893B8464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Backend Server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BDB68E-7742-4E55-B6F6-088FC3A297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Framework: we built using FASTAPI python web framework.</a:t>
            </a:r>
          </a:p>
          <a:p>
            <a:r>
              <a:rPr lang="en-US" dirty="0"/>
              <a:t>Main.py : Our Server , it receives the data from the ESP32 and analyze it.</a:t>
            </a:r>
          </a:p>
          <a:p>
            <a:r>
              <a:rPr lang="en-US" dirty="0"/>
              <a:t>To average out the noise , in baseline configuration data , we have used the EMA(exponential moving average).</a:t>
            </a:r>
          </a:p>
          <a:p>
            <a:r>
              <a:rPr lang="en-US" dirty="0"/>
              <a:t>We have performed FFT fined tuned using Welch Algorithm to analyze the vibrations .</a:t>
            </a:r>
          </a:p>
          <a:p>
            <a:r>
              <a:rPr lang="en-US" dirty="0"/>
              <a:t>We are comparing the </a:t>
            </a:r>
            <a:r>
              <a:rPr lang="en-US" dirty="0" err="1"/>
              <a:t>Baeline</a:t>
            </a:r>
            <a:r>
              <a:rPr lang="en-US" dirty="0"/>
              <a:t> Configuration to data collected during monitoring phase.</a:t>
            </a:r>
          </a:p>
          <a:p>
            <a:r>
              <a:rPr lang="en-US" dirty="0"/>
              <a:t>Accordingly , we sent the signal to our Maintainer.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2269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8645B-188D-497F-A1DF-126A94654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 Storage: Storing Data with </a:t>
            </a:r>
            <a:r>
              <a:rPr lang="en-US" dirty="0" err="1"/>
              <a:t>InfluxDB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3E02E1-5133-4494-BAB2-E4AB3F3C7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9"/>
            <a:ext cx="4329822" cy="2791798"/>
          </a:xfrm>
        </p:spPr>
        <p:txBody>
          <a:bodyPr>
            <a:normAutofit/>
          </a:bodyPr>
          <a:lstStyle/>
          <a:p>
            <a:r>
              <a:rPr lang="en-US" dirty="0"/>
              <a:t>The data we were monitoring is being stored on </a:t>
            </a:r>
            <a:r>
              <a:rPr lang="en-US" dirty="0" err="1"/>
              <a:t>influxDB</a:t>
            </a:r>
            <a:r>
              <a:rPr lang="en-US" dirty="0"/>
              <a:t>.</a:t>
            </a:r>
          </a:p>
          <a:p>
            <a:r>
              <a:rPr lang="en-US" dirty="0"/>
              <a:t>This will help in further analysis and tracking the history of Device.</a:t>
            </a:r>
          </a:p>
          <a:p>
            <a:r>
              <a:rPr lang="en-US" dirty="0"/>
              <a:t>We used </a:t>
            </a:r>
            <a:r>
              <a:rPr lang="en-US" dirty="0" err="1"/>
              <a:t>influxDB</a:t>
            </a:r>
            <a:r>
              <a:rPr lang="en-US" dirty="0"/>
              <a:t> – as it is a time series DB.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0B91055-88B2-4E95-8DC8-4E51178959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6920" y="2121763"/>
            <a:ext cx="6615080" cy="3648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4680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D1D60-7F76-4942-B903-FE9F337562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Dashboard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C8DDF2-0196-46F7-BD03-8871361B9D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2" y="2052918"/>
            <a:ext cx="4400843" cy="4195481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We have live status Indicator </a:t>
            </a:r>
            <a:r>
              <a:rPr lang="en-US" dirty="0" err="1"/>
              <a:t>appering</a:t>
            </a:r>
            <a:r>
              <a:rPr lang="en-US" dirty="0"/>
              <a:t> to the left of machine Id, green-functional , red - critical.</a:t>
            </a:r>
          </a:p>
          <a:p>
            <a:r>
              <a:rPr lang="en-US" dirty="0"/>
              <a:t>We have drawn the real-time plot of the vibrations and their FFT to the right of the Dashboard.</a:t>
            </a:r>
          </a:p>
          <a:p>
            <a:r>
              <a:rPr lang="en-US" dirty="0"/>
              <a:t>FFT plot helps us visualize the vibrations and </a:t>
            </a:r>
            <a:r>
              <a:rPr lang="en-US" dirty="0" err="1"/>
              <a:t>anmoly</a:t>
            </a:r>
            <a:r>
              <a:rPr lang="en-US" dirty="0"/>
              <a:t> in our </a:t>
            </a:r>
            <a:r>
              <a:rPr lang="en-US" dirty="0" err="1"/>
              <a:t>mahcine</a:t>
            </a:r>
            <a:r>
              <a:rPr lang="en-US" dirty="0"/>
              <a:t>.</a:t>
            </a:r>
          </a:p>
          <a:p>
            <a:r>
              <a:rPr lang="en-US" dirty="0"/>
              <a:t>We have added buttons like stop and restart for user to interact directly with ESP32 mode.</a:t>
            </a:r>
            <a:endParaRPr lang="en-IN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4C860E7B-98B8-49D8-AE4B-F335E3FD2CAA}"/>
              </a:ext>
            </a:extLst>
          </p:cNvPr>
          <p:cNvSpPr txBox="1">
            <a:spLocks/>
          </p:cNvSpPr>
          <p:nvPr/>
        </p:nvSpPr>
        <p:spPr>
          <a:xfrm>
            <a:off x="645130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4200" b="0" i="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2AB1984-0509-40F8-9203-01985BE38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0937" y="2052918"/>
            <a:ext cx="6207925" cy="3875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0901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B87CE-6033-4168-809F-007D4314B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Alerts using Telegram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C9351-68A4-4E9F-996D-0695396603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03313" y="2052918"/>
            <a:ext cx="7658948" cy="2951835"/>
          </a:xfrm>
        </p:spPr>
        <p:txBody>
          <a:bodyPr/>
          <a:lstStyle/>
          <a:p>
            <a:r>
              <a:rPr lang="en-US" dirty="0"/>
              <a:t>We have used the Telegram API of python, this helps us inform the Owner of machine in real time , if something </a:t>
            </a:r>
            <a:r>
              <a:rPr lang="en-US" dirty="0" err="1"/>
              <a:t>crtical</a:t>
            </a:r>
            <a:r>
              <a:rPr lang="en-US" dirty="0"/>
              <a:t> has happened to the </a:t>
            </a:r>
            <a:r>
              <a:rPr lang="en-US" dirty="0" err="1"/>
              <a:t>mahcine</a:t>
            </a:r>
            <a:r>
              <a:rPr lang="en-US" dirty="0"/>
              <a:t>.</a:t>
            </a:r>
          </a:p>
          <a:p>
            <a:r>
              <a:rPr lang="en-US" dirty="0"/>
              <a:t>We have a  Python script that connects to the Telegram Bot API to send a message to a owner private channel.</a:t>
            </a:r>
          </a:p>
          <a:p>
            <a:r>
              <a:rPr lang="en-US" dirty="0"/>
              <a:t>This will help the Owner to act over some alarming situation.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28538B5-4D00-414C-A48A-2E9A4DC8A5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10331" y="1194462"/>
            <a:ext cx="2436734" cy="54149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5846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4EC7E5-F81D-447E-89C8-9A04A16FE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Future: Integrating Machine Learning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124C20-7CAC-4583-827C-59ADB8DB4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47164" y="2044897"/>
            <a:ext cx="8946541" cy="2254387"/>
          </a:xfrm>
        </p:spPr>
        <p:txBody>
          <a:bodyPr/>
          <a:lstStyle/>
          <a:p>
            <a:r>
              <a:rPr lang="en-US" dirty="0"/>
              <a:t>Our so far model is purely statistical , which makes it sensitive to noises and thus is sometime behaving in </a:t>
            </a:r>
            <a:r>
              <a:rPr lang="en-US" dirty="0" err="1"/>
              <a:t>slghtly</a:t>
            </a:r>
            <a:r>
              <a:rPr lang="en-US" dirty="0"/>
              <a:t> delayed </a:t>
            </a:r>
            <a:r>
              <a:rPr lang="en-US" dirty="0" err="1"/>
              <a:t>fasion</a:t>
            </a:r>
            <a:r>
              <a:rPr lang="en-US" dirty="0"/>
              <a:t>.</a:t>
            </a:r>
          </a:p>
          <a:p>
            <a:r>
              <a:rPr lang="en-US" dirty="0"/>
              <a:t>We are planning to build an ML model over the vibration and temperature readings.</a:t>
            </a:r>
          </a:p>
          <a:p>
            <a:r>
              <a:rPr lang="en-US" dirty="0"/>
              <a:t>This will make our system much more robust.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77887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92C8A-2C51-413E-9593-A31D7E64E9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Challenges &amp; Key Learnings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861DFF-0E19-44B8-BF65-8047001DB2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During data transfer between the ESP32 (powered by our laptop) and Server , our maintainer was getting disconnected due to the sudden low current supply.</a:t>
            </a:r>
          </a:p>
          <a:p>
            <a:r>
              <a:rPr lang="en-US" dirty="0"/>
              <a:t>What if Baseline is wrong , then our entire system will fail. We will be predicting all wrong.</a:t>
            </a:r>
          </a:p>
          <a:p>
            <a:r>
              <a:rPr lang="en-US" dirty="0"/>
              <a:t>We have also encountered the deadlock situation while implementing the stop button on dashboard . ESP32 toggles it’s state to off , so to make it on we re-press the stop button. But since receiving and sending of data in server was being handled by one thread , server before sending ESP32 , command to untoggled its state to monitoring , it was waiting for monitoring message. To avoid this we created a Connection – Manager , that decouples the sending and receiving of data by server.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724425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A77C0-C1E6-4319-B84A-55F570FA7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5968" y="2728735"/>
            <a:ext cx="3260063" cy="140053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3469736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62</TotalTime>
  <Words>927</Words>
  <Application>Microsoft Office PowerPoint</Application>
  <PresentationFormat>Widescreen</PresentationFormat>
  <Paragraphs>84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Century Gothic</vt:lpstr>
      <vt:lpstr>Wingdings 3</vt:lpstr>
      <vt:lpstr>Ion</vt:lpstr>
      <vt:lpstr>Predictive Maintenance: An End-to-End IoT System for Real-Time Anomaly Detection</vt:lpstr>
      <vt:lpstr>The Problem: The High Cost of Failure</vt:lpstr>
      <vt:lpstr>Solution : A smart Monitoring System</vt:lpstr>
      <vt:lpstr>System Architecture</vt:lpstr>
      <vt:lpstr>Previous work</vt:lpstr>
      <vt:lpstr>The IoT Device : Our maintainer</vt:lpstr>
      <vt:lpstr>The Backend Server</vt:lpstr>
      <vt:lpstr>Data Storage: Storing Data with InfluxDB</vt:lpstr>
      <vt:lpstr>Dashboard</vt:lpstr>
      <vt:lpstr>Alerts using Telegram</vt:lpstr>
      <vt:lpstr>The Future: Integrating Machine Learning</vt:lpstr>
      <vt:lpstr>Challenges &amp; Key Learnings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Maintenance: An End-to-End IoT System for Real-Time Anomaly Detection</dc:title>
  <dc:creator>User</dc:creator>
  <cp:lastModifiedBy>aditya kumar bharti</cp:lastModifiedBy>
  <cp:revision>5</cp:revision>
  <dcterms:created xsi:type="dcterms:W3CDTF">2025-11-01T03:06:39Z</dcterms:created>
  <dcterms:modified xsi:type="dcterms:W3CDTF">2025-11-01T04:19:17Z</dcterms:modified>
</cp:coreProperties>
</file>