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kumar bharti" userId="aa61c19441868868" providerId="LiveId" clId="{A32C4EA5-A557-4DD6-8C01-16C0385C08A6}"/>
    <pc:docChg chg="undo custSel addSld delSld modSld">
      <pc:chgData name="aditya kumar bharti" userId="aa61c19441868868" providerId="LiveId" clId="{A32C4EA5-A557-4DD6-8C01-16C0385C08A6}" dt="2025-11-01T03:26:27.310" v="43" actId="680"/>
      <pc:docMkLst>
        <pc:docMk/>
      </pc:docMkLst>
      <pc:sldChg chg="modSp mod">
        <pc:chgData name="aditya kumar bharti" userId="aa61c19441868868" providerId="LiveId" clId="{A32C4EA5-A557-4DD6-8C01-16C0385C08A6}" dt="2025-11-01T03:24:06.420" v="19" actId="20577"/>
        <pc:sldMkLst>
          <pc:docMk/>
          <pc:sldMk cId="3148598230" sldId="256"/>
        </pc:sldMkLst>
        <pc:spChg chg="mod">
          <ac:chgData name="aditya kumar bharti" userId="aa61c19441868868" providerId="LiveId" clId="{A32C4EA5-A557-4DD6-8C01-16C0385C08A6}" dt="2025-11-01T03:24:06.420" v="19" actId="20577"/>
          <ac:spMkLst>
            <pc:docMk/>
            <pc:sldMk cId="3148598230" sldId="256"/>
            <ac:spMk id="3" creationId="{41D40B51-618E-4FF2-9D61-C672AD3FF7EE}"/>
          </ac:spMkLst>
        </pc:spChg>
      </pc:sldChg>
      <pc:sldChg chg="addSp delSp modSp new del mod">
        <pc:chgData name="aditya kumar bharti" userId="aa61c19441868868" providerId="LiveId" clId="{A32C4EA5-A557-4DD6-8C01-16C0385C08A6}" dt="2025-11-01T03:26:27.310" v="43" actId="680"/>
        <pc:sldMkLst>
          <pc:docMk/>
          <pc:sldMk cId="3773509456" sldId="268"/>
        </pc:sldMkLst>
        <pc:spChg chg="add del mod">
          <ac:chgData name="aditya kumar bharti" userId="aa61c19441868868" providerId="LiveId" clId="{A32C4EA5-A557-4DD6-8C01-16C0385C08A6}" dt="2025-11-01T03:26:26.761" v="42" actId="22"/>
          <ac:spMkLst>
            <pc:docMk/>
            <pc:sldMk cId="3773509456" sldId="268"/>
            <ac:spMk id="3" creationId="{0E5E7EF5-D38D-DB53-0285-7E4697B5FC8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8D6CB-3CB0-4A31-8937-79CEA75B3D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Predictive Maintenance: An End-to-End IoT System for Real-Time Anomaly Detection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40B51-618E-4FF2-9D61-C672AD3FF7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Aditya Kumar Bharti-22CS30007</a:t>
            </a:r>
          </a:p>
          <a:p>
            <a:r>
              <a:rPr lang="en-IN" dirty="0"/>
              <a:t>Nakul sharma-22CS30068</a:t>
            </a:r>
          </a:p>
        </p:txBody>
      </p:sp>
    </p:spTree>
    <p:extLst>
      <p:ext uri="{BB962C8B-B14F-4D97-AF65-F5344CB8AC3E}">
        <p14:creationId xmlns:p14="http://schemas.microsoft.com/office/powerpoint/2010/main" val="3148598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7596E-86A5-447A-BBB9-6D1A0A465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Problem: The High Cost of Failure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44226-0305-401F-91E6-6EE85D7D2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Unexpected Downtime: When industrial machinery fails without warning, it halts production, leading to significant financial losses.</a:t>
            </a:r>
          </a:p>
          <a:p>
            <a:r>
              <a:rPr lang="en-US" dirty="0"/>
              <a:t>Inefficient Maintenance Schedules: Reactive Maintenance (Run-to-Fail): Fixing things only after they break is costly and disruptive.</a:t>
            </a:r>
          </a:p>
          <a:p>
            <a:r>
              <a:rPr lang="en-US" dirty="0"/>
              <a:t>Preventive Maintenance (Time-Based): Replacing parts on a fixed schedule can be wasteful, as parts are often replaced before they need to be.</a:t>
            </a:r>
          </a:p>
          <a:p>
            <a:r>
              <a:rPr lang="en-US" dirty="0"/>
              <a:t>The Goal: A smarter approach is needed—one that monitors machine health in real-time.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8422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D152C-3909-4D19-B7B5-D92172FC5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Solution: A Smart Monitoring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73781-789E-49F7-AD3C-BE0D20663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complete system that automates the process of health monitoring.</a:t>
            </a:r>
          </a:p>
          <a:p>
            <a:r>
              <a:rPr lang="en-US" dirty="0"/>
              <a:t>LEARN: It first learns the unique, normal "vibration fingerprint" of a machine during a calibration phase.</a:t>
            </a:r>
          </a:p>
          <a:p>
            <a:r>
              <a:rPr lang="en-US" dirty="0"/>
              <a:t>MONITOR: It then continuously captures and analyzes high-frequency vibration and environmental data in real-time.</a:t>
            </a:r>
          </a:p>
          <a:p>
            <a:r>
              <a:rPr lang="en-US" dirty="0"/>
              <a:t>ALERT: If the data deviates from the learned baseline, it automatically triggers status changes and sends proactive alerts.</a:t>
            </a:r>
          </a:p>
          <a:p>
            <a:r>
              <a:rPr lang="en-US" dirty="0"/>
              <a:t>Key Technologies: ESP32, </a:t>
            </a:r>
            <a:r>
              <a:rPr lang="en-US" dirty="0" err="1"/>
              <a:t>FastAPI</a:t>
            </a:r>
            <a:r>
              <a:rPr lang="en-US" dirty="0"/>
              <a:t> (Python), </a:t>
            </a:r>
            <a:r>
              <a:rPr lang="en-US" dirty="0" err="1"/>
              <a:t>InfluxDB</a:t>
            </a:r>
            <a:r>
              <a:rPr lang="en-US" dirty="0"/>
              <a:t>, </a:t>
            </a:r>
            <a:r>
              <a:rPr lang="en-US" dirty="0" err="1"/>
              <a:t>WebSockets</a:t>
            </a:r>
            <a:r>
              <a:rPr lang="en-US" dirty="0"/>
              <a:t>, Chart.js, Telegram Bot API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1703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C7361-9105-460C-922D-4A97F84F4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EA82C-6C00-46C3-8384-C8839A434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Phase 1: Simulation</a:t>
            </a:r>
          </a:p>
          <a:p>
            <a:pPr lvl="1"/>
            <a:r>
              <a:rPr lang="en-US" dirty="0"/>
              <a:t>Validated the FFT and anomaly detection algorithms in Python using simulated "normal" and "faulty" vibration data before touching any hardware.</a:t>
            </a:r>
          </a:p>
          <a:p>
            <a:r>
              <a:rPr lang="en-US" dirty="0"/>
              <a:t>Phase 2: Core Hardware MVP</a:t>
            </a:r>
          </a:p>
          <a:p>
            <a:pPr lvl="1"/>
            <a:r>
              <a:rPr lang="en-US" dirty="0"/>
              <a:t>Built the essential hardware link using just the ESP32 and ADXL345 accelerometer to establish a stable, real-time WebSocket data stream.</a:t>
            </a:r>
          </a:p>
          <a:p>
            <a:r>
              <a:rPr lang="en-US" dirty="0"/>
              <a:t>Phase 3: Iterative Testing</a:t>
            </a:r>
          </a:p>
          <a:p>
            <a:pPr lvl="1"/>
            <a:r>
              <a:rPr lang="en-US" dirty="0"/>
              <a:t>Confirmed the data pipeline and server logic with real vibration data, ensuring a solid foundation before adding final features like sensors and LEDs.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951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CBE8-4625-4EF6-AAB6-914B017C3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IoT Device: Data from the Source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FD52C-17C9-4412-8C51-D6566F19D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6691282" cy="4195481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Microcontroller: An ESP32 is used for its powerful processor and built-in Wi-Fi capabilities.</a:t>
            </a:r>
          </a:p>
          <a:p>
            <a:r>
              <a:rPr lang="en-IN" dirty="0"/>
              <a:t>Primary Sensor (Vibration): An ADXL345 accelerometer captures high-frequency vibration data (100 samples/second) across X, Y, and Z axes.</a:t>
            </a:r>
          </a:p>
          <a:p>
            <a:r>
              <a:rPr lang="en-IN" dirty="0"/>
              <a:t>Secondary Sensor (Environment): A DHT11 sensor monitors ambient temperature and humidity.</a:t>
            </a:r>
          </a:p>
          <a:p>
            <a:r>
              <a:rPr lang="en-IN" dirty="0"/>
              <a:t>Core Logic (</a:t>
            </a:r>
            <a:r>
              <a:rPr lang="en-IN" dirty="0" err="1"/>
              <a:t>sketch.ino</a:t>
            </a:r>
            <a:r>
              <a:rPr lang="en-IN" dirty="0"/>
              <a:t>):Establishes a persistent WebSocket connection to the server.</a:t>
            </a:r>
          </a:p>
          <a:p>
            <a:r>
              <a:rPr lang="en-IN" dirty="0"/>
              <a:t>Collects 3,000 samples to create a robust operational baseline.</a:t>
            </a:r>
          </a:p>
          <a:p>
            <a:r>
              <a:rPr lang="en-IN" dirty="0"/>
              <a:t>Streams live data in manageable chunks for real-time analysis.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DF77D2-530E-45FE-8B15-4A5AF3646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623" y="1477885"/>
            <a:ext cx="3826460" cy="510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956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DB830-4227-4D4C-BF58-0893B8464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Backend Server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DB68E-7742-4E55-B6F6-088FC3A29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Core Framework: Built using </a:t>
            </a:r>
            <a:r>
              <a:rPr lang="en-US" dirty="0" err="1"/>
              <a:t>FastAPI</a:t>
            </a:r>
            <a:r>
              <a:rPr lang="en-US" dirty="0"/>
              <a:t>, a modern, high-performance Python web framework.</a:t>
            </a:r>
          </a:p>
          <a:p>
            <a:r>
              <a:rPr lang="en-US" dirty="0"/>
              <a:t>Real-time Analysis (main.py): Receives live vibration data via </a:t>
            </a:r>
            <a:r>
              <a:rPr lang="en-US" dirty="0" err="1"/>
              <a:t>WebSockets</a:t>
            </a:r>
            <a:r>
              <a:rPr lang="en-US" dirty="0"/>
              <a:t>.</a:t>
            </a:r>
          </a:p>
          <a:p>
            <a:r>
              <a:rPr lang="en-US" dirty="0"/>
              <a:t>Applies an Exponential Moving Average (EMA) to smooth the signal.</a:t>
            </a:r>
          </a:p>
          <a:p>
            <a:r>
              <a:rPr lang="en-US" dirty="0"/>
              <a:t>Performs a Fast Fourier Transform (FFT) to analyze the signal's frequency components.</a:t>
            </a:r>
          </a:p>
          <a:p>
            <a:r>
              <a:rPr lang="en-US" dirty="0"/>
              <a:t>Anomaly Detection: Compares the peak power (dB) of the live FFT against the learned baseline statistics (mean and standard deviation).</a:t>
            </a:r>
          </a:p>
          <a:p>
            <a:r>
              <a:rPr lang="en-US" dirty="0"/>
              <a:t>Triggers status changes (active, warning, critical) if thresholds are consistently breached.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2269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8645B-188D-497F-A1DF-126A94654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Persistence: Storing Data with </a:t>
            </a:r>
            <a:r>
              <a:rPr lang="en-US" dirty="0" err="1"/>
              <a:t>InfluxDB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E02E1-5133-4494-BAB2-E4AB3F3C7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4329822" cy="419548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Problem: Raw data disappears if the server restarts. Long-term trend analysis is impossible.</a:t>
            </a:r>
          </a:p>
          <a:p>
            <a:r>
              <a:rPr lang="en-US" dirty="0"/>
              <a:t>The Solution: All incoming data (vibration aggregates, temperature, humidity) is written to an </a:t>
            </a:r>
            <a:r>
              <a:rPr lang="en-US" dirty="0" err="1"/>
              <a:t>InfluxDB</a:t>
            </a:r>
            <a:r>
              <a:rPr lang="en-US" dirty="0"/>
              <a:t> database.</a:t>
            </a:r>
          </a:p>
          <a:p>
            <a:r>
              <a:rPr lang="en-US" dirty="0"/>
              <a:t>Why </a:t>
            </a:r>
            <a:r>
              <a:rPr lang="en-US" dirty="0" err="1"/>
              <a:t>InfluxDB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It's a Time-Series Database purpose-built for high-speed ingestion and querying of timestamped IoT data.</a:t>
            </a:r>
          </a:p>
          <a:p>
            <a:r>
              <a:rPr lang="en-US" dirty="0"/>
              <a:t>Provides the foundation for historical analysis and future machine learning model training.</a:t>
            </a:r>
          </a:p>
          <a:p>
            <a:r>
              <a:rPr lang="en-US" dirty="0"/>
              <a:t>Every data point is now a valuable, long-term asset.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B91055-88B2-4E95-8DC8-4E5117895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920" y="2121763"/>
            <a:ext cx="6615080" cy="364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468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D1D60-7F76-4942-B903-FE9F33756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Live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DDF2-0196-46F7-BD03-8871361B9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4400843" cy="419548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Live Status Indicator: Green (Active), Amber (Warning), Red (Critical) gives an at-a-glance view of machine health.</a:t>
            </a:r>
          </a:p>
          <a:p>
            <a:r>
              <a:rPr lang="en-US" dirty="0"/>
              <a:t>Real-time Vibration Plot: Shows the smoothed time-series data for all three axes.</a:t>
            </a:r>
          </a:p>
          <a:p>
            <a:r>
              <a:rPr lang="en-US" dirty="0"/>
              <a:t>Real-time FFT Plot: Visualizes the frequency spectrum, which is key to diagnosing the type of vibration.</a:t>
            </a:r>
          </a:p>
          <a:p>
            <a:r>
              <a:rPr lang="en-US" dirty="0"/>
              <a:t>Interactive Controls: Allows a user to remotely stop or restart the monitoring process for any machine.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C860E7B-98B8-49D8-AE4B-F335E3FD2CAA}"/>
              </a:ext>
            </a:extLst>
          </p:cNvPr>
          <p:cNvSpPr txBox="1">
            <a:spLocks/>
          </p:cNvSpPr>
          <p:nvPr/>
        </p:nvSpPr>
        <p:spPr>
          <a:xfrm>
            <a:off x="645130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AB1984-0509-40F8-9203-01985BE38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937" y="2052918"/>
            <a:ext cx="6207925" cy="387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01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B87CE-6033-4168-809F-007D4314B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Proactive Alerting with Telegram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C9351-68A4-4E9F-996D-069539660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7658948" cy="4195481"/>
          </a:xfrm>
        </p:spPr>
        <p:txBody>
          <a:bodyPr/>
          <a:lstStyle/>
          <a:p>
            <a:r>
              <a:rPr lang="en-US" dirty="0"/>
              <a:t>Automated Notifications: When the backend server detects a status change to "warning" or "critical," it triggers an immediate alert.</a:t>
            </a:r>
          </a:p>
          <a:p>
            <a:r>
              <a:rPr lang="en-US" dirty="0"/>
              <a:t>Telegram Bot Integration: A Python script connects to the Telegram Bot API to send a message to a dedicated private channel.</a:t>
            </a:r>
          </a:p>
          <a:p>
            <a:r>
              <a:rPr lang="en-US" dirty="0"/>
              <a:t>Benefit: Key personnel are notified instantly on their phones, no matter where they are, allowing for rapid response to potential failures.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8538B5-4D00-414C-A48A-2E9A4DC8A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331" y="1194462"/>
            <a:ext cx="2436734" cy="541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846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EC7E5-F81D-447E-89C8-9A04A16FE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Future: Integrating 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24C20-7CAC-4583-827C-59ADB8DB4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Limitation: The statistical model is effective but relies on fixed thresholds. It may not catch complex, multi-variate patterns.</a:t>
            </a:r>
          </a:p>
          <a:p>
            <a:r>
              <a:rPr lang="en-US" dirty="0"/>
              <a:t>Proposed ML Model: An unsupervised anomaly detection model, such as Isolation Forest or a One-Class SVM.</a:t>
            </a:r>
          </a:p>
          <a:p>
            <a:r>
              <a:rPr lang="en-US" dirty="0"/>
              <a:t>The Workflow: Collect Data: Use the data already being stored in </a:t>
            </a:r>
            <a:r>
              <a:rPr lang="en-US" dirty="0" err="1"/>
              <a:t>InfluxDB</a:t>
            </a:r>
            <a:r>
              <a:rPr lang="en-US" dirty="0"/>
              <a:t> to build a large dataset of "normal" operation.</a:t>
            </a:r>
          </a:p>
          <a:p>
            <a:r>
              <a:rPr lang="en-US" dirty="0"/>
              <a:t>Train Offline: Train the model to learn the complex boundaries of normal behavior.</a:t>
            </a:r>
          </a:p>
          <a:p>
            <a:r>
              <a:rPr lang="en-US" dirty="0"/>
              <a:t>Deploy for Inference: Load the trained model into the </a:t>
            </a:r>
            <a:r>
              <a:rPr lang="en-US" dirty="0" err="1"/>
              <a:t>FastAPI</a:t>
            </a:r>
            <a:r>
              <a:rPr lang="en-US" dirty="0"/>
              <a:t> server to predict in real-time if incoming data is an anomaly.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788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92C8A-2C51-413E-9593-A31D7E64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&amp; Key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61DFF-0E19-44B8-BF65-8047001DB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Handling: Managing high-frequency (100Hz) data required efficient chunking and a robust WebSocket connection to avoid overwhelming the server.</a:t>
            </a:r>
          </a:p>
          <a:p>
            <a:r>
              <a:rPr lang="en-US" dirty="0"/>
              <a:t>Baseline is Everything: The accuracy of the entire system depends entirely on collecting a clean, representative baseline. Any noise during calibration directly impacts performance.</a:t>
            </a:r>
          </a:p>
          <a:p>
            <a:r>
              <a:rPr lang="en-US" dirty="0"/>
              <a:t>End-to-End Complexity: Integrating five major components (Hardware -&gt; Server -&gt; Database -&gt; Dashboard -&gt; Alerts) required careful planning and debugging at each interface.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2442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A77C0-C1E6-4319-B84A-55F570FA7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968" y="2728735"/>
            <a:ext cx="3260063" cy="140053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346973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30</TotalTime>
  <Words>930</Words>
  <Application>Microsoft Office PowerPoint</Application>
  <PresentationFormat>Widescreen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Ion</vt:lpstr>
      <vt:lpstr>Predictive Maintenance: An End-to-End IoT System for Real-Time Anomaly Detection</vt:lpstr>
      <vt:lpstr>The Problem: The High Cost of Failure</vt:lpstr>
      <vt:lpstr>The Solution: A Smart Monitoring System</vt:lpstr>
      <vt:lpstr>System Architecture</vt:lpstr>
      <vt:lpstr>The IoT Device: Data from the Source</vt:lpstr>
      <vt:lpstr>The Backend Server</vt:lpstr>
      <vt:lpstr>Data Persistence: Storing Data with InfluxDB</vt:lpstr>
      <vt:lpstr>The Live Dashboard</vt:lpstr>
      <vt:lpstr>Proactive Alerting with Telegram</vt:lpstr>
      <vt:lpstr>The Future: Integrating Machine Learning</vt:lpstr>
      <vt:lpstr>Challenges &amp; Key Learnings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Maintenance: An End-to-End IoT System for Real-Time Anomaly Detection</dc:title>
  <dc:creator>User</dc:creator>
  <cp:lastModifiedBy>aditya kumar bharti</cp:lastModifiedBy>
  <cp:revision>2</cp:revision>
  <dcterms:created xsi:type="dcterms:W3CDTF">2025-11-01T03:06:39Z</dcterms:created>
  <dcterms:modified xsi:type="dcterms:W3CDTF">2025-11-01T03:39:40Z</dcterms:modified>
</cp:coreProperties>
</file>